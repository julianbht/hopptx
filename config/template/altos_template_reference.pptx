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79" r:id="rId4"/>
    <p:sldId id="280" r:id="rId5"/>
    <p:sldId id="281" r:id="rId6"/>
    <p:sldId id="283" r:id="rId7"/>
    <p:sldId id="284" r:id="rId8"/>
    <p:sldId id="282" r:id="rId9"/>
    <p:sldId id="278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>
        <p:scale>
          <a:sx n="70" d="100"/>
          <a:sy n="70" d="100"/>
        </p:scale>
        <p:origin x="713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F249B1F3-37B8-AB79-3060-EBAA41243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:notes">
            <a:extLst>
              <a:ext uri="{FF2B5EF4-FFF2-40B4-BE49-F238E27FC236}">
                <a16:creationId xmlns:a16="http://schemas.microsoft.com/office/drawing/2014/main" id="{8F6D4B38-ADED-E9E2-3142-7536335101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:notes">
            <a:extLst>
              <a:ext uri="{FF2B5EF4-FFF2-40B4-BE49-F238E27FC236}">
                <a16:creationId xmlns:a16="http://schemas.microsoft.com/office/drawing/2014/main" id="{F5EDBA95-4C1F-8A4E-F673-6B4F03E1D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0829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38B6382E-53A3-6CDD-DD04-513DB8CB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:notes">
            <a:extLst>
              <a:ext uri="{FF2B5EF4-FFF2-40B4-BE49-F238E27FC236}">
                <a16:creationId xmlns:a16="http://schemas.microsoft.com/office/drawing/2014/main" id="{6D5042C1-FE84-F73A-24D3-247FDD9868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:notes">
            <a:extLst>
              <a:ext uri="{FF2B5EF4-FFF2-40B4-BE49-F238E27FC236}">
                <a16:creationId xmlns:a16="http://schemas.microsoft.com/office/drawing/2014/main" id="{8E70E57E-82DE-68F9-7BC8-0A0A813EED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23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" type="titleOnly">
  <p:cSld name="TITLE_ONLY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13037" y="0"/>
            <a:ext cx="2430964" cy="252446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3175" y="722050"/>
            <a:ext cx="2532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233175" y="966650"/>
            <a:ext cx="56763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None/>
              <a:defRPr sz="5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2"/>
          </p:nvPr>
        </p:nvSpPr>
        <p:spPr>
          <a:xfrm>
            <a:off x="233175" y="3254300"/>
            <a:ext cx="5955000" cy="13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7" name="Google Shape;17;p2"/>
          <p:cNvCxnSpPr/>
          <p:nvPr/>
        </p:nvCxnSpPr>
        <p:spPr>
          <a:xfrm>
            <a:off x="320025" y="3105550"/>
            <a:ext cx="3218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723" y="0"/>
            <a:ext cx="1128276" cy="5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8723" y="0"/>
            <a:ext cx="1128276" cy="5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251000" y="1190625"/>
            <a:ext cx="8701500" cy="3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─"/>
              <a:defRPr>
                <a:solidFill>
                  <a:schemeClr val="dk1"/>
                </a:solidFill>
              </a:defRPr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୦"/>
              <a:defRPr>
                <a:solidFill>
                  <a:schemeClr val="dk1"/>
                </a:solidFill>
              </a:defRPr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251000" y="445025"/>
            <a:ext cx="870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1">
  <p:cSld name="TITLE_ONLY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246" name="Google Shape;24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13037" y="0"/>
            <a:ext cx="2430964" cy="252446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>
            <a:spLocks noGrp="1"/>
          </p:cNvSpPr>
          <p:nvPr>
            <p:ph type="ctrTitle"/>
          </p:nvPr>
        </p:nvSpPr>
        <p:spPr>
          <a:xfrm>
            <a:off x="1733850" y="1447350"/>
            <a:ext cx="56763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Font typeface="Arial"/>
              <a:buNone/>
              <a:defRPr sz="5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pic>
        <p:nvPicPr>
          <p:cNvPr id="248" name="Google Shape;24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723" y="0"/>
            <a:ext cx="1128276" cy="5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─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●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○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Char char="■"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/>
          <p:nvPr/>
        </p:nvSpPr>
        <p:spPr>
          <a:xfrm>
            <a:off x="311700" y="4721400"/>
            <a:ext cx="6143700" cy="4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 b="0" i="0" u="none" strike="noStrike" cap="non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Confidential and proprietary to Altos Labs. Do not share without express written consent from Altos Labs.</a:t>
            </a:r>
            <a:endParaRPr sz="700" b="0" i="0" u="none" strike="noStrike" cap="none" dirty="0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0" i="1" u="none" strike="noStrike" cap="none" dirty="0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8719075" y="32675"/>
            <a:ext cx="34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800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69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 fontScale="6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1</a:t>
            </a:fld>
            <a:endParaRPr dirty="0"/>
          </a:p>
        </p:txBody>
      </p:sp>
      <p:sp>
        <p:nvSpPr>
          <p:cNvPr id="270" name="Google Shape;270;p27"/>
          <p:cNvSpPr txBox="1">
            <a:spLocks noGrp="1"/>
          </p:cNvSpPr>
          <p:nvPr>
            <p:ph type="subTitle" idx="1"/>
          </p:nvPr>
        </p:nvSpPr>
        <p:spPr>
          <a:xfrm>
            <a:off x="233175" y="722050"/>
            <a:ext cx="2532300" cy="4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dirty="0"/>
              <a:t>30 March 2026 </a:t>
            </a:r>
            <a:endParaRPr dirty="0"/>
          </a:p>
        </p:txBody>
      </p:sp>
      <p:sp>
        <p:nvSpPr>
          <p:cNvPr id="271" name="Google Shape;271;p27"/>
          <p:cNvSpPr txBox="1">
            <a:spLocks noGrp="1"/>
          </p:cNvSpPr>
          <p:nvPr>
            <p:ph type="ctrTitle"/>
          </p:nvPr>
        </p:nvSpPr>
        <p:spPr>
          <a:xfrm>
            <a:off x="233175" y="966650"/>
            <a:ext cx="56763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dirty="0">
                <a:solidFill>
                  <a:srgbClr val="231F20"/>
                </a:solidFill>
              </a:rPr>
              <a:t>2025 Hands On Learning Statistics </a:t>
            </a:r>
            <a:endParaRPr dirty="0"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233175" y="3254300"/>
            <a:ext cx="5955000" cy="13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231F20"/>
                </a:solidFill>
              </a:rPr>
              <a:t>Summary Statistics for Altos Labs Attendance in Hands On </a:t>
            </a:r>
            <a:r>
              <a:rPr lang="en-US" b="1" dirty="0">
                <a:solidFill>
                  <a:srgbClr val="231F20"/>
                </a:solidFill>
              </a:rPr>
              <a:t>On-Demand</a:t>
            </a:r>
            <a:r>
              <a:rPr lang="en-US" dirty="0">
                <a:solidFill>
                  <a:srgbClr val="231F20"/>
                </a:solidFill>
              </a:rPr>
              <a:t> Learning Programs </a:t>
            </a:r>
            <a:endParaRPr dirty="0">
              <a:solidFill>
                <a:srgbClr val="231F2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 fontScale="6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  <p:sp>
        <p:nvSpPr>
          <p:cNvPr id="278" name="Google Shape;278;p28"/>
          <p:cNvSpPr txBox="1">
            <a:spLocks noGrp="1"/>
          </p:cNvSpPr>
          <p:nvPr>
            <p:ph type="body" idx="1"/>
          </p:nvPr>
        </p:nvSpPr>
        <p:spPr>
          <a:xfrm>
            <a:off x="365300" y="1350645"/>
            <a:ext cx="8701500" cy="3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2025 Altos Labs ETP Learning Reimbursement Award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On April 25, 2025 Altos Labs awarded California Employment Training Panel (ETP) learning reimbursement program of up to </a:t>
            </a:r>
            <a:r>
              <a:rPr lang="en-US" sz="1400" dirty="0">
                <a:solidFill>
                  <a:srgbClr val="231F2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$450k </a:t>
            </a: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for learning program reimbursement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ETP only applies to California employees (only CA employees are eligible for reimbursement)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Federally-mandated programs like sexual harassment or OSHA are not eligible for reimbursement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Award valid / useable between April 25, 2025 through April 24, 2027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No penalty for non-use; a ‘use’ or ‘lose’ structure (though future awards may be re-sized to reflect actual utilization)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Due to administrative delays, Altos officially began Hands On programs for ETP reimbursement as of late June 2025 </a:t>
            </a:r>
            <a:endParaRPr sz="1400"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endParaRPr dirty="0"/>
          </a:p>
        </p:txBody>
      </p:sp>
      <p:sp>
        <p:nvSpPr>
          <p:cNvPr id="279" name="Google Shape;279;p28"/>
          <p:cNvSpPr txBox="1">
            <a:spLocks noGrp="1"/>
          </p:cNvSpPr>
          <p:nvPr>
            <p:ph type="title"/>
          </p:nvPr>
        </p:nvSpPr>
        <p:spPr>
          <a:xfrm>
            <a:off x="251000" y="445025"/>
            <a:ext cx="870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Background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CB8723F9-B3F3-69B9-951F-2DC822F3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>
            <a:extLst>
              <a:ext uri="{FF2B5EF4-FFF2-40B4-BE49-F238E27FC236}">
                <a16:creationId xmlns:a16="http://schemas.microsoft.com/office/drawing/2014/main" id="{EC15D898-CC1E-32C5-B531-6F90B75B0F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 fontScale="6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3</a:t>
            </a:fld>
            <a:endParaRPr dirty="0"/>
          </a:p>
        </p:txBody>
      </p:sp>
      <p:sp>
        <p:nvSpPr>
          <p:cNvPr id="278" name="Google Shape;278;p28">
            <a:extLst>
              <a:ext uri="{FF2B5EF4-FFF2-40B4-BE49-F238E27FC236}">
                <a16:creationId xmlns:a16="http://schemas.microsoft.com/office/drawing/2014/main" id="{57112153-F2CB-FE9B-EA76-DB1E089A70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5300" y="1350645"/>
            <a:ext cx="8701500" cy="3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2025 Altos Labs Attendance in Hands On Learning Programs </a:t>
            </a:r>
            <a:endParaRPr sz="2000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600"/>
              </a:spcBef>
              <a:buSzPts val="1100"/>
            </a:pPr>
            <a:endParaRPr lang="en-US" sz="1400"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2025 Hands On Learning Sign-ups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First sign-ups began as of 24 June 2025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Last sign-up in 2025 was as of 21 November 2025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Total 552 sign-ups throughout June – November 2025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Of 552 total sign-ups, 72 were withdrawn (cancelled) prior to the session, or 13% (this refers to instances when employees sign up for a program and then later decide to cancel their attendance before the session occurs)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2025 Hands On Learning Program Attendance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First attended session for ETP reimbursement was 27 June 2025 – Transitioning into Management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Last attended sessions were 10 December 2025 – Decision-Making and Risk Management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 total of 58 unique learning topics attended in 2025 (see next slides)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 total of 138 unique learning attendees from Altos Labs in Hands On On-Demand programs in 2025 (unique meaning individual employees) </a:t>
            </a:r>
            <a:endParaRPr sz="1200"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endParaRPr dirty="0"/>
          </a:p>
        </p:txBody>
      </p:sp>
      <p:sp>
        <p:nvSpPr>
          <p:cNvPr id="279" name="Google Shape;279;p28">
            <a:extLst>
              <a:ext uri="{FF2B5EF4-FFF2-40B4-BE49-F238E27FC236}">
                <a16:creationId xmlns:a16="http://schemas.microsoft.com/office/drawing/2014/main" id="{8957CF07-93C3-32C7-9DED-1C113DC5DF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00" y="445025"/>
            <a:ext cx="870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Key Highlights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E3C93D-47DE-D14E-74C3-47F2D7473B22}"/>
              </a:ext>
            </a:extLst>
          </p:cNvPr>
          <p:cNvSpPr txBox="1"/>
          <p:nvPr/>
        </p:nvSpPr>
        <p:spPr>
          <a:xfrm>
            <a:off x="3649784" y="104350"/>
            <a:ext cx="49523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Statistics on this slide only pertain to Hands On </a:t>
            </a:r>
            <a:r>
              <a:rPr lang="en-US" b="1" dirty="0"/>
              <a:t>on-demand </a:t>
            </a:r>
            <a:r>
              <a:rPr lang="en-US" dirty="0"/>
              <a:t>programs. Altos ran 6 learning topics from Hands On in 2025 that were for Altos-only employees (attendance in the 2025 6 Altos-only sessions is not reflected in this presentation)</a:t>
            </a:r>
          </a:p>
        </p:txBody>
      </p:sp>
    </p:spTree>
    <p:extLst>
      <p:ext uri="{BB962C8B-B14F-4D97-AF65-F5344CB8AC3E}">
        <p14:creationId xmlns:p14="http://schemas.microsoft.com/office/powerpoint/2010/main" val="3278979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7869A1-3E10-FEC3-D97E-E1C0926241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CF70-0B0E-9E08-7A6A-9F45533C12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1250" y="1577150"/>
            <a:ext cx="8701500" cy="3462000"/>
          </a:xfrm>
        </p:spPr>
        <p:txBody>
          <a:bodyPr>
            <a:normAutofit/>
          </a:bodyPr>
          <a:lstStyle/>
          <a:p>
            <a:r>
              <a:rPr lang="en-US" sz="1800" dirty="0"/>
              <a:t>AI </a:t>
            </a:r>
          </a:p>
          <a:p>
            <a:r>
              <a:rPr lang="en-US" sz="1800" dirty="0"/>
              <a:t>Career Development </a:t>
            </a:r>
          </a:p>
          <a:p>
            <a:r>
              <a:rPr lang="en-US" sz="1800" dirty="0"/>
              <a:t>Drug Discovery &amp; Development 101</a:t>
            </a:r>
          </a:p>
          <a:p>
            <a:r>
              <a:rPr lang="en-US" sz="1800" dirty="0"/>
              <a:t>Drug Discovery &amp; Development 201 </a:t>
            </a:r>
          </a:p>
          <a:p>
            <a:r>
              <a:rPr lang="en-US" sz="1800" dirty="0"/>
              <a:t>Finance for Non-Finance Managers </a:t>
            </a:r>
          </a:p>
          <a:p>
            <a:r>
              <a:rPr lang="en-US" sz="1800" dirty="0"/>
              <a:t>Influencing &amp; Stakeholder Management </a:t>
            </a:r>
          </a:p>
          <a:p>
            <a:r>
              <a:rPr lang="en-US" sz="1800" dirty="0"/>
              <a:t>Leading Projects </a:t>
            </a:r>
          </a:p>
          <a:p>
            <a:r>
              <a:rPr lang="en-US" sz="1800" dirty="0"/>
              <a:t>Phase 0 Clinical Trials </a:t>
            </a:r>
          </a:p>
          <a:p>
            <a:r>
              <a:rPr lang="en-US" sz="1800" dirty="0"/>
              <a:t>Presenting Technical Information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58374-03AE-F664-39F8-1D5002418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2025 Most Attended On-Demand Programs (Learning Topics)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622D3-86B5-981C-A473-0C0084F59229}"/>
              </a:ext>
            </a:extLst>
          </p:cNvPr>
          <p:cNvSpPr txBox="1"/>
          <p:nvPr/>
        </p:nvSpPr>
        <p:spPr>
          <a:xfrm>
            <a:off x="4738416" y="3945060"/>
            <a:ext cx="40030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programs are listed in alpha order</a:t>
            </a:r>
          </a:p>
        </p:txBody>
      </p:sp>
    </p:spTree>
    <p:extLst>
      <p:ext uri="{BB962C8B-B14F-4D97-AF65-F5344CB8AC3E}">
        <p14:creationId xmlns:p14="http://schemas.microsoft.com/office/powerpoint/2010/main" val="2642005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F9302-47C8-AE85-A7C3-67F8667C7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3F4C0B-A7E6-04E3-EDEF-0084CE8B3D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51117-CE81-78C5-C052-7DDB8942F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000" y="1681500"/>
            <a:ext cx="8701500" cy="3462000"/>
          </a:xfrm>
        </p:spPr>
        <p:txBody>
          <a:bodyPr>
            <a:normAutofit/>
          </a:bodyPr>
          <a:lstStyle/>
          <a:p>
            <a:r>
              <a:rPr lang="en-US" sz="1800" dirty="0"/>
              <a:t>Cross-functional Collaboration </a:t>
            </a:r>
          </a:p>
          <a:p>
            <a:r>
              <a:rPr lang="en-US" sz="1800" dirty="0"/>
              <a:t>Developing Others </a:t>
            </a:r>
          </a:p>
          <a:p>
            <a:r>
              <a:rPr lang="en-US" sz="1800" dirty="0"/>
              <a:t>Executive Presence </a:t>
            </a:r>
          </a:p>
          <a:p>
            <a:r>
              <a:rPr lang="en-US" sz="1800" dirty="0"/>
              <a:t>Giving &amp; Receiving Feedback </a:t>
            </a:r>
          </a:p>
          <a:p>
            <a:r>
              <a:rPr lang="en-US" sz="1800" dirty="0"/>
              <a:t>Mentoring </a:t>
            </a:r>
          </a:p>
          <a:p>
            <a:r>
              <a:rPr lang="en-US" sz="1800" dirty="0"/>
              <a:t>Transitioning into Management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167CFF-3D32-9709-0418-A94F38313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2025 Least Attended On-Demand Programs (Learning Topics)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8757C-7C0F-B5FE-D839-64BA3C24C683}"/>
              </a:ext>
            </a:extLst>
          </p:cNvPr>
          <p:cNvSpPr txBox="1"/>
          <p:nvPr/>
        </p:nvSpPr>
        <p:spPr>
          <a:xfrm>
            <a:off x="494601" y="4045175"/>
            <a:ext cx="81547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These programs are listed in alpha order</a:t>
            </a:r>
          </a:p>
          <a:p>
            <a:r>
              <a:rPr lang="en-US" dirty="0"/>
              <a:t>NOTE 2: By least attended, this means less than 5 Altos employees attended these topics over 2025</a:t>
            </a:r>
          </a:p>
        </p:txBody>
      </p:sp>
    </p:spTree>
    <p:extLst>
      <p:ext uri="{BB962C8B-B14F-4D97-AF65-F5344CB8AC3E}">
        <p14:creationId xmlns:p14="http://schemas.microsoft.com/office/powerpoint/2010/main" val="353216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5F2A8-EF85-311A-A23F-FF1782E9EE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91BB804-4428-75E0-9AA2-8AFDFB73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2025 Total Altos On-Demand Learning Topics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1CF762D-78E4-8711-7867-8508B9A201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220557"/>
              </p:ext>
            </p:extLst>
          </p:nvPr>
        </p:nvGraphicFramePr>
        <p:xfrm>
          <a:off x="320948" y="1017725"/>
          <a:ext cx="8156928" cy="3293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488">
                  <a:extLst>
                    <a:ext uri="{9D8B030D-6E8A-4147-A177-3AD203B41FA5}">
                      <a16:colId xmlns:a16="http://schemas.microsoft.com/office/drawing/2014/main" val="2789396949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3117252975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2106139461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4099404837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2092060698"/>
                    </a:ext>
                  </a:extLst>
                </a:gridCol>
                <a:gridCol w="1359488">
                  <a:extLst>
                    <a:ext uri="{9D8B030D-6E8A-4147-A177-3AD203B41FA5}">
                      <a16:colId xmlns:a16="http://schemas.microsoft.com/office/drawing/2014/main" val="4063405693"/>
                    </a:ext>
                  </a:extLst>
                </a:gridCol>
              </a:tblGrid>
              <a:tr h="458671">
                <a:tc gridSpan="2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Business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Technical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Personal Development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Influencing /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+mn-lt"/>
                        </a:rPr>
                        <a:t>Leading Others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292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Advanced Agile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Advanced Finance for Non-Finance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Advanced Innovation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Advanced Strategic Planning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Agile &amp; Design Thinking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AI 101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AI 201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AI in Commercial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AI in G&amp;A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AI in R&amp;D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Budget &amp; Resource Management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Business Process &amp; Continuous Improvement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US" sz="9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Cross-functional Collaboration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Decision Making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Effective Meetings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Finance for Non-Finance 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Ideation &amp; Innovation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Interviewing Skills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Leading Projects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Personal Time Mastery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Portfolio Management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Risk Management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Root Cause Analysis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Strategic Planning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Time Management &amp; Organization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Clinical Operations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Drug Discovery &amp; Development 101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Drug Discovery &amp; Development 201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Intro to CMC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Phase 0 Clinical Trials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Ramping up for Phase 3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Regulatory Affairs 101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Transitioning into Industry – Industry Acumen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Career Development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Creative Thinking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Increasing Resiliency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Managing Stress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Mastering Your Mindset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Conflict Resolution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Conversational Intelligence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Emotional Intelligence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Giving &amp; Receiving Feedback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Influencing &amp; Stakeholder Management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Navigating Difficult Conversations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Presenting Technical Information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Storytelling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Being a Leader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Coaching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Creating a Strong Team Culture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Creating Strategic Vision &amp; Aligning Your Team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Delegating &amp; Empowering Others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Developing Others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Mentoring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Setting Goals &amp; Expectations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Team Optimization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The Neuroscience of Leadership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900" dirty="0">
                          <a:latin typeface="+mn-lt"/>
                        </a:rPr>
                        <a:t>Transitioning into Management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525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45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42FC12-6959-EE94-18C5-00FCB8933F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625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CC249-5FE0-FCF6-15D1-B8D5C88C6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objectives of the program were clearly defined.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Participation and interaction were encouraged.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topics covered were relevant to me.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content was organized and easy to follow.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materials distributed were helpful.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This program will be useful in my work.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facilitator was knowledgeable about the topics covered.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facilitator was well prepared.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learning objectives were met.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The time allotted for the program was sufficient.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What did you like most about this program?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What aspects of the program could be improved?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How do you hope to change your practices/approach as a result of this program?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What additional programs/learning would you like to have in the future?</a:t>
            </a:r>
          </a:p>
          <a:p>
            <a:pPr marL="342900" lvl="0" indent="-342900">
              <a:lnSpc>
                <a:spcPct val="100000"/>
              </a:lnSpc>
              <a:spcBef>
                <a:spcPts val="300"/>
              </a:spcBef>
              <a:buClr>
                <a:schemeClr val="tx1"/>
              </a:buClr>
              <a:buSzPct val="80000"/>
              <a:buFont typeface="+mj-lt"/>
              <a:buAutoNum type="arabicPeriod"/>
              <a:defRPr/>
            </a:pPr>
            <a:r>
              <a:rPr lang="en-US" kern="1200" dirty="0">
                <a:solidFill>
                  <a:schemeClr val="tx1"/>
                </a:solidFill>
                <a:latin typeface="Helvetica Neue" panose="020B0604020202020204" charset="0"/>
                <a:cs typeface="Calibri" panose="020F0502020204030204" pitchFamily="34" charset="0"/>
              </a:rPr>
              <a:t>Please share other comments or expand on previous responses.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95EB81-A204-8AD9-25AF-668EC077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Hands On On-Demand Program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E3CF5-43A3-06CD-D858-2E03BC1F8EB5}"/>
              </a:ext>
            </a:extLst>
          </p:cNvPr>
          <p:cNvSpPr txBox="1"/>
          <p:nvPr/>
        </p:nvSpPr>
        <p:spPr>
          <a:xfrm>
            <a:off x="5291016" y="1372313"/>
            <a:ext cx="343877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There are a total of 15 questions for program evaluations, as indicated on this slide </a:t>
            </a:r>
          </a:p>
          <a:p>
            <a:r>
              <a:rPr lang="en-US" dirty="0"/>
              <a:t>NOTE 2: Hands On uses a 5-point Likert Scale to rank responses to questions #1 – 10 on this slide </a:t>
            </a:r>
          </a:p>
          <a:p>
            <a:endParaRPr lang="en-US" dirty="0"/>
          </a:p>
          <a:p>
            <a:r>
              <a:rPr lang="en-US" dirty="0"/>
              <a:t>LIKERT SCALE – 5 is highest ranking </a:t>
            </a:r>
          </a:p>
          <a:p>
            <a:endParaRPr lang="en-US" dirty="0"/>
          </a:p>
          <a:p>
            <a:r>
              <a:rPr lang="en-US" dirty="0"/>
              <a:t>5. Strongly Agree </a:t>
            </a:r>
          </a:p>
          <a:p>
            <a:r>
              <a:rPr lang="en-US" dirty="0"/>
              <a:t>4. Agree </a:t>
            </a:r>
          </a:p>
          <a:p>
            <a:r>
              <a:rPr lang="en-US" dirty="0"/>
              <a:t>3. Somewhat Agree </a:t>
            </a:r>
          </a:p>
          <a:p>
            <a:r>
              <a:rPr lang="en-US" dirty="0"/>
              <a:t>2. Disagree </a:t>
            </a:r>
          </a:p>
          <a:p>
            <a:r>
              <a:rPr lang="en-US" dirty="0"/>
              <a:t>1. Strongly Disagree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64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4C5B4458-BE66-33D1-75AF-9BA40FF7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">
            <a:extLst>
              <a:ext uri="{FF2B5EF4-FFF2-40B4-BE49-F238E27FC236}">
                <a16:creationId xmlns:a16="http://schemas.microsoft.com/office/drawing/2014/main" id="{CD2D3B2A-8BBD-1444-9EF4-C96C81636D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 fontScale="6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278" name="Google Shape;278;p28">
            <a:extLst>
              <a:ext uri="{FF2B5EF4-FFF2-40B4-BE49-F238E27FC236}">
                <a16:creationId xmlns:a16="http://schemas.microsoft.com/office/drawing/2014/main" id="{89899CE9-CC92-EF66-2FD2-BF811CE9B7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65300" y="1350645"/>
            <a:ext cx="8701500" cy="3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dirty="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2025 Aggregate, Relevant Program Evaluations </a:t>
            </a:r>
            <a:endParaRPr sz="2000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600"/>
              </a:spcBef>
              <a:buSzPts val="1100"/>
              <a:buNone/>
            </a:pPr>
            <a:endParaRPr lang="en-US" sz="1400"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Of 58 total learning topics (on-demand) attended by Altos employees in 2025, 48 of these had completed program evaluations (assessing participant feedback post each session)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Hands On evaluations for on-demand programs are anonymous, so it is not possible to discern whether these evaluations came from Altos attendees or others </a:t>
            </a:r>
          </a:p>
          <a:p>
            <a:pPr marL="285750" indent="-285750">
              <a:spcBef>
                <a:spcPts val="600"/>
              </a:spcBef>
              <a:buSzPts val="1100"/>
            </a:pPr>
            <a:r>
              <a:rPr lang="en-US" sz="14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Of the 48 program evaluations assessed from 2025 (those pertaining to programs that Altos employees attended):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Average ranking of strength of program 4.4 (out of 5 total points)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Most common positive comments related to relevance of the topics, quality of facilitator and materials </a:t>
            </a:r>
          </a:p>
          <a:p>
            <a:pPr marL="742950" lvl="1" indent="-285750">
              <a:spcBef>
                <a:spcPts val="600"/>
              </a:spcBef>
              <a:buSzPts val="1100"/>
            </a:pPr>
            <a:r>
              <a:rPr lang="en-US" sz="1200" dirty="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Most common areas for improvement were requests for shorter break-outs and other activities during sessions and longer sessions / more time to cover topics </a:t>
            </a:r>
          </a:p>
          <a:p>
            <a:pPr marL="285750" indent="-285750">
              <a:spcBef>
                <a:spcPts val="600"/>
              </a:spcBef>
              <a:buSzPts val="1100"/>
            </a:pPr>
            <a:endParaRPr sz="1200"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231F2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000"/>
              <a:buNone/>
            </a:pPr>
            <a:endParaRPr dirty="0"/>
          </a:p>
        </p:txBody>
      </p:sp>
      <p:sp>
        <p:nvSpPr>
          <p:cNvPr id="279" name="Google Shape;279;p28">
            <a:extLst>
              <a:ext uri="{FF2B5EF4-FFF2-40B4-BE49-F238E27FC236}">
                <a16:creationId xmlns:a16="http://schemas.microsoft.com/office/drawing/2014/main" id="{EDBB2B88-6833-AAF8-0CC1-405D252D1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1000" y="445025"/>
            <a:ext cx="8701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dirty="0">
                <a:latin typeface="Arial"/>
                <a:ea typeface="Arial"/>
                <a:cs typeface="Arial"/>
                <a:sym typeface="Arial"/>
              </a:rPr>
              <a:t>Program Evaluations 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ADD03A-AC67-B045-511C-21943A7C20BC}"/>
              </a:ext>
            </a:extLst>
          </p:cNvPr>
          <p:cNvSpPr txBox="1"/>
          <p:nvPr/>
        </p:nvSpPr>
        <p:spPr>
          <a:xfrm>
            <a:off x="5390121" y="218520"/>
            <a:ext cx="31964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Statistics on this slide only pertain to Hands On </a:t>
            </a:r>
            <a:r>
              <a:rPr lang="en-US" b="1" dirty="0"/>
              <a:t>on-demand </a:t>
            </a:r>
            <a:r>
              <a:rPr lang="en-US" dirty="0"/>
              <a:t>programs. </a:t>
            </a:r>
          </a:p>
        </p:txBody>
      </p:sp>
    </p:spTree>
    <p:extLst>
      <p:ext uri="{BB962C8B-B14F-4D97-AF65-F5344CB8AC3E}">
        <p14:creationId xmlns:p14="http://schemas.microsoft.com/office/powerpoint/2010/main" val="1347243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"/>
          <p:cNvSpPr txBox="1">
            <a:spLocks noGrp="1"/>
          </p:cNvSpPr>
          <p:nvPr>
            <p:ph type="sldNum" idx="12"/>
          </p:nvPr>
        </p:nvSpPr>
        <p:spPr>
          <a:xfrm>
            <a:off x="8403750" y="4750850"/>
            <a:ext cx="548700" cy="2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91425" rIns="91425" bIns="91425" anchor="t" anchorCtr="0">
            <a:normAutofit fontScale="62500" lnSpcReduction="2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fld id="{00000000-1234-1234-1234-123412341234}" type="slidenum">
              <a:rPr lang="en"/>
              <a:t>9</a:t>
            </a:fld>
            <a:endParaRPr dirty="0"/>
          </a:p>
        </p:txBody>
      </p:sp>
      <p:sp>
        <p:nvSpPr>
          <p:cNvPr id="510" name="Google Shape;510;p49"/>
          <p:cNvSpPr txBox="1">
            <a:spLocks noGrp="1"/>
          </p:cNvSpPr>
          <p:nvPr>
            <p:ph type="ctrTitle"/>
          </p:nvPr>
        </p:nvSpPr>
        <p:spPr>
          <a:xfrm>
            <a:off x="1733850" y="1447350"/>
            <a:ext cx="56763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26F69"/>
      </a:accent1>
      <a:accent2>
        <a:srgbClr val="767EED"/>
      </a:accent2>
      <a:accent3>
        <a:srgbClr val="2CB8B1"/>
      </a:accent3>
      <a:accent4>
        <a:srgbClr val="00B97C"/>
      </a:accent4>
      <a:accent5>
        <a:srgbClr val="EBB800"/>
      </a:accent5>
      <a:accent6>
        <a:srgbClr val="4F7CB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995</Words>
  <Application>Microsoft Office PowerPoint</Application>
  <PresentationFormat>On-screen Show (16:9)</PresentationFormat>
  <Paragraphs>159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Helvetica Neue</vt:lpstr>
      <vt:lpstr>Arial</vt:lpstr>
      <vt:lpstr>Simple Light</vt:lpstr>
      <vt:lpstr>2025 Hands On Learning Statistics </vt:lpstr>
      <vt:lpstr>Background </vt:lpstr>
      <vt:lpstr>Key Highlights </vt:lpstr>
      <vt:lpstr>2025 Most Attended On-Demand Programs (Learning Topics) </vt:lpstr>
      <vt:lpstr>2025 Least Attended On-Demand Programs (Learning Topics) </vt:lpstr>
      <vt:lpstr>2025 Total Altos On-Demand Learning Topics </vt:lpstr>
      <vt:lpstr>Hands On On-Demand Program Evaluation</vt:lpstr>
      <vt:lpstr>Program Evaluations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Kathryn Matz</dc:creator>
  <cp:lastModifiedBy>Info, Hands On</cp:lastModifiedBy>
  <cp:revision>19</cp:revision>
  <dcterms:modified xsi:type="dcterms:W3CDTF">2026-03-29T14:14:28Z</dcterms:modified>
</cp:coreProperties>
</file>